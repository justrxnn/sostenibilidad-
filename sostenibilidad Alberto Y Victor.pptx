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Agrandir Narrow Ultra-Bold" charset="1" panose="00000906000000000000"/>
      <p:regular r:id="rId15"/>
    </p:embeddedFont>
    <p:embeddedFont>
      <p:font typeface="Agrandir Narrow" charset="1" panose="00000506000000000000"/>
      <p:regular r:id="rId16"/>
    </p:embeddedFont>
    <p:embeddedFont>
      <p:font typeface="Agrandir Narrow Bold" charset="1" panose="00000806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4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8.jpeg" Type="http://schemas.openxmlformats.org/officeDocument/2006/relationships/image"/><Relationship Id="rId5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9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16391" y="1101688"/>
            <a:ext cx="15855218" cy="8083624"/>
            <a:chOff x="0" y="0"/>
            <a:chExt cx="4175860" cy="212902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175860" cy="2129020"/>
            </a:xfrm>
            <a:custGeom>
              <a:avLst/>
              <a:gdLst/>
              <a:ahLst/>
              <a:cxnLst/>
              <a:rect r="r" b="b" t="t" l="l"/>
              <a:pathLst>
                <a:path h="2129020" w="4175860">
                  <a:moveTo>
                    <a:pt x="0" y="0"/>
                  </a:moveTo>
                  <a:lnTo>
                    <a:pt x="4175860" y="0"/>
                  </a:lnTo>
                  <a:lnTo>
                    <a:pt x="4175860" y="2129020"/>
                  </a:lnTo>
                  <a:lnTo>
                    <a:pt x="0" y="21290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175860" cy="21671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-1324416" y="-772712"/>
            <a:ext cx="5316969" cy="5742674"/>
          </a:xfrm>
          <a:custGeom>
            <a:avLst/>
            <a:gdLst/>
            <a:ahLst/>
            <a:cxnLst/>
            <a:rect r="r" b="b" t="t" l="l"/>
            <a:pathLst>
              <a:path h="5742674" w="5316969">
                <a:moveTo>
                  <a:pt x="0" y="0"/>
                </a:moveTo>
                <a:lnTo>
                  <a:pt x="5316969" y="0"/>
                </a:lnTo>
                <a:lnTo>
                  <a:pt x="5316969" y="5742674"/>
                </a:lnTo>
                <a:lnTo>
                  <a:pt x="0" y="57426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064234" y="6815314"/>
            <a:ext cx="5083846" cy="5636607"/>
          </a:xfrm>
          <a:custGeom>
            <a:avLst/>
            <a:gdLst/>
            <a:ahLst/>
            <a:cxnLst/>
            <a:rect r="r" b="b" t="t" l="l"/>
            <a:pathLst>
              <a:path h="5636607" w="5083846">
                <a:moveTo>
                  <a:pt x="0" y="0"/>
                </a:moveTo>
                <a:lnTo>
                  <a:pt x="5083846" y="0"/>
                </a:lnTo>
                <a:lnTo>
                  <a:pt x="5083846" y="5636607"/>
                </a:lnTo>
                <a:lnTo>
                  <a:pt x="0" y="56366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2699999">
            <a:off x="-17625" y="6862910"/>
            <a:ext cx="5813532" cy="6104209"/>
          </a:xfrm>
          <a:custGeom>
            <a:avLst/>
            <a:gdLst/>
            <a:ahLst/>
            <a:cxnLst/>
            <a:rect r="r" b="b" t="t" l="l"/>
            <a:pathLst>
              <a:path h="6104209" w="5813532">
                <a:moveTo>
                  <a:pt x="0" y="6104209"/>
                </a:moveTo>
                <a:lnTo>
                  <a:pt x="5813533" y="6104209"/>
                </a:lnTo>
                <a:lnTo>
                  <a:pt x="5813533" y="0"/>
                </a:lnTo>
                <a:lnTo>
                  <a:pt x="0" y="0"/>
                </a:lnTo>
                <a:lnTo>
                  <a:pt x="0" y="6104209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10334739">
            <a:off x="15478511" y="-716566"/>
            <a:ext cx="5108037" cy="5199111"/>
          </a:xfrm>
          <a:custGeom>
            <a:avLst/>
            <a:gdLst/>
            <a:ahLst/>
            <a:cxnLst/>
            <a:rect r="r" b="b" t="t" l="l"/>
            <a:pathLst>
              <a:path h="5199111" w="5108037">
                <a:moveTo>
                  <a:pt x="0" y="0"/>
                </a:moveTo>
                <a:lnTo>
                  <a:pt x="5108037" y="0"/>
                </a:lnTo>
                <a:lnTo>
                  <a:pt x="5108037" y="5199111"/>
                </a:lnTo>
                <a:lnTo>
                  <a:pt x="0" y="519911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9100323">
            <a:off x="10399881" y="-2500645"/>
            <a:ext cx="5328706" cy="5001289"/>
          </a:xfrm>
          <a:custGeom>
            <a:avLst/>
            <a:gdLst/>
            <a:ahLst/>
            <a:cxnLst/>
            <a:rect r="r" b="b" t="t" l="l"/>
            <a:pathLst>
              <a:path h="5001289" w="5328706">
                <a:moveTo>
                  <a:pt x="0" y="0"/>
                </a:moveTo>
                <a:lnTo>
                  <a:pt x="5328706" y="0"/>
                </a:lnTo>
                <a:lnTo>
                  <a:pt x="5328706" y="5001290"/>
                </a:lnTo>
                <a:lnTo>
                  <a:pt x="0" y="500129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136882" y="3603777"/>
            <a:ext cx="12014236" cy="1782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95"/>
              </a:lnSpc>
            </a:pPr>
            <a:r>
              <a:rPr lang="en-US" b="true" sz="10860">
                <a:solidFill>
                  <a:srgbClr val="043576"/>
                </a:solidFill>
                <a:latin typeface="Agrandir Narrow Ultra-Bold"/>
                <a:ea typeface="Agrandir Narrow Ultra-Bold"/>
                <a:cs typeface="Agrandir Narrow Ultra-Bold"/>
                <a:sym typeface="Agrandir Narrow Ultra-Bold"/>
              </a:rPr>
              <a:t>SOSTENIBILIDAD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518589" y="6605764"/>
            <a:ext cx="7250822" cy="1695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>
                <a:solidFill>
                  <a:srgbClr val="004AAD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Por: Victor</a:t>
            </a:r>
          </a:p>
          <a:p>
            <a:pPr algn="ctr">
              <a:lnSpc>
                <a:spcPts val="6299"/>
              </a:lnSpc>
            </a:pPr>
            <a:r>
              <a:rPr lang="en-US" sz="4500">
                <a:solidFill>
                  <a:srgbClr val="004AAD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Alberto</a:t>
            </a:r>
          </a:p>
        </p:txBody>
      </p:sp>
      <p:grpSp>
        <p:nvGrpSpPr>
          <p:cNvPr name="Group 13" id="13"/>
          <p:cNvGrpSpPr>
            <a:grpSpLocks noChangeAspect="true"/>
          </p:cNvGrpSpPr>
          <p:nvPr/>
        </p:nvGrpSpPr>
        <p:grpSpPr>
          <a:xfrm rot="0">
            <a:off x="15049826" y="8465486"/>
            <a:ext cx="2006802" cy="1128812"/>
            <a:chOff x="0" y="0"/>
            <a:chExt cx="11289030" cy="6350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287761" cy="6348735"/>
            </a:xfrm>
            <a:custGeom>
              <a:avLst/>
              <a:gdLst/>
              <a:ahLst/>
              <a:cxnLst/>
              <a:rect r="r" b="b" t="t" l="l"/>
              <a:pathLst>
                <a:path h="6348735" w="11287761">
                  <a:moveTo>
                    <a:pt x="0" y="5824220"/>
                  </a:moveTo>
                  <a:lnTo>
                    <a:pt x="0" y="525780"/>
                  </a:lnTo>
                  <a:cubicBezTo>
                    <a:pt x="0" y="234950"/>
                    <a:pt x="234950" y="0"/>
                    <a:pt x="525780" y="0"/>
                  </a:cubicBezTo>
                  <a:lnTo>
                    <a:pt x="10761980" y="0"/>
                  </a:lnTo>
                  <a:cubicBezTo>
                    <a:pt x="11052811" y="0"/>
                    <a:pt x="11287761" y="234950"/>
                    <a:pt x="11287761" y="525780"/>
                  </a:cubicBezTo>
                  <a:lnTo>
                    <a:pt x="11287761" y="5822950"/>
                  </a:lnTo>
                  <a:cubicBezTo>
                    <a:pt x="11287761" y="6113780"/>
                    <a:pt x="11052811" y="6348730"/>
                    <a:pt x="10761980" y="6348730"/>
                  </a:cubicBezTo>
                  <a:lnTo>
                    <a:pt x="525780" y="6348730"/>
                  </a:lnTo>
                  <a:cubicBezTo>
                    <a:pt x="236220" y="6350000"/>
                    <a:pt x="0" y="6115050"/>
                    <a:pt x="0" y="5824220"/>
                  </a:cubicBezTo>
                  <a:cubicBezTo>
                    <a:pt x="0" y="5824220"/>
                    <a:pt x="0" y="5824220"/>
                    <a:pt x="0" y="5824220"/>
                  </a:cubicBezTo>
                  <a:close/>
                </a:path>
              </a:pathLst>
            </a:custGeom>
            <a:blipFill>
              <a:blip r:embed="rId8"/>
              <a:stretch>
                <a:fillRect l="0" t="-49536" r="0" b="-1359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16391" y="1101688"/>
            <a:ext cx="15855218" cy="8083624"/>
            <a:chOff x="0" y="0"/>
            <a:chExt cx="4175860" cy="212902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175860" cy="2129020"/>
            </a:xfrm>
            <a:custGeom>
              <a:avLst/>
              <a:gdLst/>
              <a:ahLst/>
              <a:cxnLst/>
              <a:rect r="r" b="b" t="t" l="l"/>
              <a:pathLst>
                <a:path h="2129020" w="4175860">
                  <a:moveTo>
                    <a:pt x="0" y="0"/>
                  </a:moveTo>
                  <a:lnTo>
                    <a:pt x="4175860" y="0"/>
                  </a:lnTo>
                  <a:lnTo>
                    <a:pt x="4175860" y="2129020"/>
                  </a:lnTo>
                  <a:lnTo>
                    <a:pt x="0" y="21290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175860" cy="21671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-3379425" y="-2417178"/>
            <a:ext cx="5316969" cy="5742674"/>
          </a:xfrm>
          <a:custGeom>
            <a:avLst/>
            <a:gdLst/>
            <a:ahLst/>
            <a:cxnLst/>
            <a:rect r="r" b="b" t="t" l="l"/>
            <a:pathLst>
              <a:path h="5742674" w="5316969">
                <a:moveTo>
                  <a:pt x="0" y="0"/>
                </a:moveTo>
                <a:lnTo>
                  <a:pt x="5316968" y="0"/>
                </a:lnTo>
                <a:lnTo>
                  <a:pt x="5316968" y="5742674"/>
                </a:lnTo>
                <a:lnTo>
                  <a:pt x="0" y="57426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2699999">
            <a:off x="15941213" y="7410945"/>
            <a:ext cx="5813532" cy="6104209"/>
          </a:xfrm>
          <a:custGeom>
            <a:avLst/>
            <a:gdLst/>
            <a:ahLst/>
            <a:cxnLst/>
            <a:rect r="r" b="b" t="t" l="l"/>
            <a:pathLst>
              <a:path h="6104209" w="5813532">
                <a:moveTo>
                  <a:pt x="0" y="6104209"/>
                </a:moveTo>
                <a:lnTo>
                  <a:pt x="5813532" y="6104209"/>
                </a:lnTo>
                <a:lnTo>
                  <a:pt x="5813532" y="0"/>
                </a:lnTo>
                <a:lnTo>
                  <a:pt x="0" y="0"/>
                </a:lnTo>
                <a:lnTo>
                  <a:pt x="0" y="6104209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9144000" y="3144521"/>
            <a:ext cx="7509491" cy="1417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0"/>
              </a:lnSpc>
            </a:pPr>
            <a:r>
              <a:rPr lang="en-US" sz="3800" b="true">
                <a:solidFill>
                  <a:srgbClr val="F15C54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Sectores Productivos y Conexión con los ODS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054513" y="1509409"/>
            <a:ext cx="6089487" cy="1300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73"/>
              </a:lnSpc>
            </a:pPr>
            <a:r>
              <a:rPr lang="en-US" sz="6552" b="true">
                <a:solidFill>
                  <a:srgbClr val="043576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Índice: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5899375" y="-1446774"/>
            <a:ext cx="3839165" cy="4256593"/>
          </a:xfrm>
          <a:custGeom>
            <a:avLst/>
            <a:gdLst/>
            <a:ahLst/>
            <a:cxnLst/>
            <a:rect r="r" b="b" t="t" l="l"/>
            <a:pathLst>
              <a:path h="4256593" w="3839165">
                <a:moveTo>
                  <a:pt x="0" y="0"/>
                </a:moveTo>
                <a:lnTo>
                  <a:pt x="3839165" y="0"/>
                </a:lnTo>
                <a:lnTo>
                  <a:pt x="3839165" y="4256594"/>
                </a:lnTo>
                <a:lnTo>
                  <a:pt x="0" y="42565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969209" y="3144521"/>
            <a:ext cx="4552345" cy="1417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0"/>
              </a:lnSpc>
            </a:pPr>
            <a:r>
              <a:rPr lang="en-US" sz="3800" b="true">
                <a:solidFill>
                  <a:srgbClr val="A4CAFB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 Optimización Móvil y Acc</a:t>
            </a:r>
            <a:r>
              <a:rPr lang="en-US" b="true" sz="3800">
                <a:solidFill>
                  <a:srgbClr val="A4CAFB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esibilidad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969209" y="4962525"/>
            <a:ext cx="6376967" cy="1417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0"/>
              </a:lnSpc>
            </a:pPr>
            <a:r>
              <a:rPr lang="en-US" sz="3800" b="true">
                <a:solidFill>
                  <a:srgbClr val="A4CAFB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Protección de Datos e Int</a:t>
            </a:r>
            <a:r>
              <a:rPr lang="en-US" b="true" sz="3800">
                <a:solidFill>
                  <a:srgbClr val="A4CAFB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egración Continua (CI/CD)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937543" y="6784784"/>
            <a:ext cx="6125295" cy="1417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0"/>
              </a:lnSpc>
            </a:pPr>
            <a:r>
              <a:rPr lang="en-US" sz="3800" b="true">
                <a:solidFill>
                  <a:srgbClr val="A4CAFB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Rendimiento en Código Java y Con</a:t>
            </a:r>
            <a:r>
              <a:rPr lang="en-US" b="true" sz="3800">
                <a:solidFill>
                  <a:srgbClr val="A4CAFB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sultas SQL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144000" y="4962525"/>
            <a:ext cx="6628639" cy="1417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0"/>
              </a:lnSpc>
            </a:pPr>
            <a:r>
              <a:rPr lang="en-US" sz="3800" b="true">
                <a:solidFill>
                  <a:srgbClr val="F15C54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Análisis de Riesgos y Oportunidades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216069" y="6784784"/>
            <a:ext cx="7855540" cy="1417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0"/>
              </a:lnSpc>
            </a:pPr>
            <a:r>
              <a:rPr lang="en-US" sz="3800" b="true">
                <a:solidFill>
                  <a:srgbClr val="F15C54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Responsabilidad Profesional, Personal y Confusiones Frecuentes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2699999">
            <a:off x="-2567721" y="1919650"/>
            <a:ext cx="5813532" cy="6104209"/>
          </a:xfrm>
          <a:custGeom>
            <a:avLst/>
            <a:gdLst/>
            <a:ahLst/>
            <a:cxnLst/>
            <a:rect r="r" b="b" t="t" l="l"/>
            <a:pathLst>
              <a:path h="6104209" w="5813532">
                <a:moveTo>
                  <a:pt x="0" y="6104209"/>
                </a:moveTo>
                <a:lnTo>
                  <a:pt x="5813533" y="6104209"/>
                </a:lnTo>
                <a:lnTo>
                  <a:pt x="5813533" y="0"/>
                </a:lnTo>
                <a:lnTo>
                  <a:pt x="0" y="0"/>
                </a:lnTo>
                <a:lnTo>
                  <a:pt x="0" y="6104209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2699999">
            <a:off x="4706730" y="7354032"/>
            <a:ext cx="5813532" cy="6104209"/>
          </a:xfrm>
          <a:custGeom>
            <a:avLst/>
            <a:gdLst/>
            <a:ahLst/>
            <a:cxnLst/>
            <a:rect r="r" b="b" t="t" l="l"/>
            <a:pathLst>
              <a:path h="6104209" w="5813532">
                <a:moveTo>
                  <a:pt x="0" y="6104208"/>
                </a:moveTo>
                <a:lnTo>
                  <a:pt x="5813533" y="6104208"/>
                </a:lnTo>
                <a:lnTo>
                  <a:pt x="5813533" y="0"/>
                </a:lnTo>
                <a:lnTo>
                  <a:pt x="0" y="0"/>
                </a:lnTo>
                <a:lnTo>
                  <a:pt x="0" y="6104208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2699999">
            <a:off x="8458754" y="-2615830"/>
            <a:ext cx="5813532" cy="6104209"/>
          </a:xfrm>
          <a:custGeom>
            <a:avLst/>
            <a:gdLst/>
            <a:ahLst/>
            <a:cxnLst/>
            <a:rect r="r" b="b" t="t" l="l"/>
            <a:pathLst>
              <a:path h="6104209" w="5813532">
                <a:moveTo>
                  <a:pt x="0" y="6104208"/>
                </a:moveTo>
                <a:lnTo>
                  <a:pt x="5813532" y="6104208"/>
                </a:lnTo>
                <a:lnTo>
                  <a:pt x="5813532" y="0"/>
                </a:lnTo>
                <a:lnTo>
                  <a:pt x="0" y="0"/>
                </a:lnTo>
                <a:lnTo>
                  <a:pt x="0" y="6104208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2699999">
            <a:off x="16354676" y="3586019"/>
            <a:ext cx="5813532" cy="6104209"/>
          </a:xfrm>
          <a:custGeom>
            <a:avLst/>
            <a:gdLst/>
            <a:ahLst/>
            <a:cxnLst/>
            <a:rect r="r" b="b" t="t" l="l"/>
            <a:pathLst>
              <a:path h="6104209" w="5813532">
                <a:moveTo>
                  <a:pt x="0" y="6104209"/>
                </a:moveTo>
                <a:lnTo>
                  <a:pt x="5813532" y="6104209"/>
                </a:lnTo>
                <a:lnTo>
                  <a:pt x="5813532" y="0"/>
                </a:lnTo>
                <a:lnTo>
                  <a:pt x="0" y="0"/>
                </a:lnTo>
                <a:lnTo>
                  <a:pt x="0" y="6104209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216391" y="1101688"/>
            <a:ext cx="15855218" cy="8083624"/>
            <a:chOff x="0" y="0"/>
            <a:chExt cx="4175860" cy="21290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175860" cy="2129020"/>
            </a:xfrm>
            <a:custGeom>
              <a:avLst/>
              <a:gdLst/>
              <a:ahLst/>
              <a:cxnLst/>
              <a:rect r="r" b="b" t="t" l="l"/>
              <a:pathLst>
                <a:path h="2129020" w="4175860">
                  <a:moveTo>
                    <a:pt x="0" y="0"/>
                  </a:moveTo>
                  <a:lnTo>
                    <a:pt x="4175860" y="0"/>
                  </a:lnTo>
                  <a:lnTo>
                    <a:pt x="4175860" y="2129020"/>
                  </a:lnTo>
                  <a:lnTo>
                    <a:pt x="0" y="21290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175860" cy="21671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3022423" y="1756032"/>
            <a:ext cx="12556655" cy="3215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28"/>
              </a:lnSpc>
            </a:pPr>
            <a:r>
              <a:rPr lang="en-US" b="true" sz="8520">
                <a:solidFill>
                  <a:srgbClr val="A4CAFB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Aspectos técnicos y desarrollo de software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296142" y="5648275"/>
            <a:ext cx="6296234" cy="665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60"/>
              </a:lnSpc>
            </a:pPr>
            <a:r>
              <a:rPr lang="en-US" sz="3328">
                <a:solidFill>
                  <a:srgbClr val="043576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Optimización Móvil y Accesibilidad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10334739">
            <a:off x="15375277" y="-1406857"/>
            <a:ext cx="5108037" cy="5199111"/>
          </a:xfrm>
          <a:custGeom>
            <a:avLst/>
            <a:gdLst/>
            <a:ahLst/>
            <a:cxnLst/>
            <a:rect r="r" b="b" t="t" l="l"/>
            <a:pathLst>
              <a:path h="5199111" w="5108037">
                <a:moveTo>
                  <a:pt x="0" y="0"/>
                </a:moveTo>
                <a:lnTo>
                  <a:pt x="5108037" y="0"/>
                </a:lnTo>
                <a:lnTo>
                  <a:pt x="5108037" y="5199111"/>
                </a:lnTo>
                <a:lnTo>
                  <a:pt x="0" y="51991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true" rot="10334739">
            <a:off x="-1525319" y="6513411"/>
            <a:ext cx="5108037" cy="5199111"/>
          </a:xfrm>
          <a:custGeom>
            <a:avLst/>
            <a:gdLst/>
            <a:ahLst/>
            <a:cxnLst/>
            <a:rect r="r" b="b" t="t" l="l"/>
            <a:pathLst>
              <a:path h="5199111" w="5108037">
                <a:moveTo>
                  <a:pt x="0" y="5199111"/>
                </a:moveTo>
                <a:lnTo>
                  <a:pt x="5108038" y="5199111"/>
                </a:lnTo>
                <a:lnTo>
                  <a:pt x="5108038" y="0"/>
                </a:lnTo>
                <a:lnTo>
                  <a:pt x="0" y="0"/>
                </a:lnTo>
                <a:lnTo>
                  <a:pt x="0" y="5199111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3420581">
            <a:off x="11804211" y="7367643"/>
            <a:ext cx="5108037" cy="5199111"/>
          </a:xfrm>
          <a:custGeom>
            <a:avLst/>
            <a:gdLst/>
            <a:ahLst/>
            <a:cxnLst/>
            <a:rect r="r" b="b" t="t" l="l"/>
            <a:pathLst>
              <a:path h="5199111" w="5108037">
                <a:moveTo>
                  <a:pt x="0" y="0"/>
                </a:moveTo>
                <a:lnTo>
                  <a:pt x="5108037" y="0"/>
                </a:lnTo>
                <a:lnTo>
                  <a:pt x="5108037" y="5199111"/>
                </a:lnTo>
                <a:lnTo>
                  <a:pt x="0" y="51991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3420581">
            <a:off x="1356093" y="-2819173"/>
            <a:ext cx="5108037" cy="5199111"/>
          </a:xfrm>
          <a:custGeom>
            <a:avLst/>
            <a:gdLst/>
            <a:ahLst/>
            <a:cxnLst/>
            <a:rect r="r" b="b" t="t" l="l"/>
            <a:pathLst>
              <a:path h="5199111" w="5108037">
                <a:moveTo>
                  <a:pt x="0" y="0"/>
                </a:moveTo>
                <a:lnTo>
                  <a:pt x="5108037" y="0"/>
                </a:lnTo>
                <a:lnTo>
                  <a:pt x="5108037" y="5199111"/>
                </a:lnTo>
                <a:lnTo>
                  <a:pt x="0" y="51991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0467464" y="5648275"/>
            <a:ext cx="5896755" cy="658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44"/>
              </a:lnSpc>
            </a:pPr>
            <a:r>
              <a:rPr lang="en-US" sz="3317">
                <a:solidFill>
                  <a:srgbClr val="043576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Accesibilidad Web y Móvil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2699999">
            <a:off x="-2567721" y="1919650"/>
            <a:ext cx="5813532" cy="6104209"/>
          </a:xfrm>
          <a:custGeom>
            <a:avLst/>
            <a:gdLst/>
            <a:ahLst/>
            <a:cxnLst/>
            <a:rect r="r" b="b" t="t" l="l"/>
            <a:pathLst>
              <a:path h="6104209" w="5813532">
                <a:moveTo>
                  <a:pt x="0" y="6104209"/>
                </a:moveTo>
                <a:lnTo>
                  <a:pt x="5813533" y="6104209"/>
                </a:lnTo>
                <a:lnTo>
                  <a:pt x="5813533" y="0"/>
                </a:lnTo>
                <a:lnTo>
                  <a:pt x="0" y="0"/>
                </a:lnTo>
                <a:lnTo>
                  <a:pt x="0" y="6104209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2699999">
            <a:off x="4706730" y="7354032"/>
            <a:ext cx="5813532" cy="6104209"/>
          </a:xfrm>
          <a:custGeom>
            <a:avLst/>
            <a:gdLst/>
            <a:ahLst/>
            <a:cxnLst/>
            <a:rect r="r" b="b" t="t" l="l"/>
            <a:pathLst>
              <a:path h="6104209" w="5813532">
                <a:moveTo>
                  <a:pt x="0" y="6104208"/>
                </a:moveTo>
                <a:lnTo>
                  <a:pt x="5813533" y="6104208"/>
                </a:lnTo>
                <a:lnTo>
                  <a:pt x="5813533" y="0"/>
                </a:lnTo>
                <a:lnTo>
                  <a:pt x="0" y="0"/>
                </a:lnTo>
                <a:lnTo>
                  <a:pt x="0" y="6104208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2699999">
            <a:off x="8458754" y="-2615830"/>
            <a:ext cx="5813532" cy="6104209"/>
          </a:xfrm>
          <a:custGeom>
            <a:avLst/>
            <a:gdLst/>
            <a:ahLst/>
            <a:cxnLst/>
            <a:rect r="r" b="b" t="t" l="l"/>
            <a:pathLst>
              <a:path h="6104209" w="5813532">
                <a:moveTo>
                  <a:pt x="0" y="6104208"/>
                </a:moveTo>
                <a:lnTo>
                  <a:pt x="5813532" y="6104208"/>
                </a:lnTo>
                <a:lnTo>
                  <a:pt x="5813532" y="0"/>
                </a:lnTo>
                <a:lnTo>
                  <a:pt x="0" y="0"/>
                </a:lnTo>
                <a:lnTo>
                  <a:pt x="0" y="6104208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2699999">
            <a:off x="16354676" y="3586019"/>
            <a:ext cx="5813532" cy="6104209"/>
          </a:xfrm>
          <a:custGeom>
            <a:avLst/>
            <a:gdLst/>
            <a:ahLst/>
            <a:cxnLst/>
            <a:rect r="r" b="b" t="t" l="l"/>
            <a:pathLst>
              <a:path h="6104209" w="5813532">
                <a:moveTo>
                  <a:pt x="0" y="6104209"/>
                </a:moveTo>
                <a:lnTo>
                  <a:pt x="5813532" y="6104209"/>
                </a:lnTo>
                <a:lnTo>
                  <a:pt x="5813532" y="0"/>
                </a:lnTo>
                <a:lnTo>
                  <a:pt x="0" y="0"/>
                </a:lnTo>
                <a:lnTo>
                  <a:pt x="0" y="6104209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216391" y="1101688"/>
            <a:ext cx="15855218" cy="8083624"/>
            <a:chOff x="0" y="0"/>
            <a:chExt cx="4175860" cy="21290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175860" cy="2129020"/>
            </a:xfrm>
            <a:custGeom>
              <a:avLst/>
              <a:gdLst/>
              <a:ahLst/>
              <a:cxnLst/>
              <a:rect r="r" b="b" t="t" l="l"/>
              <a:pathLst>
                <a:path h="2129020" w="4175860">
                  <a:moveTo>
                    <a:pt x="0" y="0"/>
                  </a:moveTo>
                  <a:lnTo>
                    <a:pt x="4175860" y="0"/>
                  </a:lnTo>
                  <a:lnTo>
                    <a:pt x="4175860" y="2129020"/>
                  </a:lnTo>
                  <a:lnTo>
                    <a:pt x="0" y="21290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175860" cy="21671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3378918" y="2015616"/>
            <a:ext cx="10456122" cy="2418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60"/>
              </a:lnSpc>
            </a:pPr>
            <a:r>
              <a:rPr lang="en-US" b="true" sz="6400">
                <a:solidFill>
                  <a:srgbClr val="A4CAFB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Protección de datos e Integración continua(CI/CD)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005390" y="5137977"/>
            <a:ext cx="6119777" cy="641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18"/>
              </a:lnSpc>
            </a:pPr>
            <a:r>
              <a:rPr lang="en-US" sz="3227">
                <a:solidFill>
                  <a:srgbClr val="043576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Privacidad y minimización de datos</a:t>
            </a:r>
          </a:p>
        </p:txBody>
      </p: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14023232" y="436274"/>
            <a:ext cx="6472137" cy="9708205"/>
            <a:chOff x="0" y="0"/>
            <a:chExt cx="6350000" cy="9525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9525000"/>
            </a:xfrm>
            <a:custGeom>
              <a:avLst/>
              <a:gdLst/>
              <a:ahLst/>
              <a:cxnLst/>
              <a:rect r="r" b="b" t="t" l="l"/>
              <a:pathLst>
                <a:path h="9525000" w="6350000">
                  <a:moveTo>
                    <a:pt x="0" y="9042400"/>
                  </a:moveTo>
                  <a:lnTo>
                    <a:pt x="0" y="482600"/>
                  </a:lnTo>
                  <a:cubicBezTo>
                    <a:pt x="0" y="215900"/>
                    <a:pt x="215900" y="0"/>
                    <a:pt x="482600" y="0"/>
                  </a:cubicBezTo>
                  <a:lnTo>
                    <a:pt x="5867400" y="0"/>
                  </a:lnTo>
                  <a:cubicBezTo>
                    <a:pt x="6134100" y="0"/>
                    <a:pt x="6350000" y="217170"/>
                    <a:pt x="6350000" y="482600"/>
                  </a:cubicBezTo>
                  <a:lnTo>
                    <a:pt x="6350000" y="9042400"/>
                  </a:lnTo>
                  <a:cubicBezTo>
                    <a:pt x="6350000" y="9309100"/>
                    <a:pt x="6134100" y="9525000"/>
                    <a:pt x="5867400" y="9525000"/>
                  </a:cubicBezTo>
                  <a:lnTo>
                    <a:pt x="482600" y="9525000"/>
                  </a:lnTo>
                  <a:cubicBezTo>
                    <a:pt x="217170" y="9525000"/>
                    <a:pt x="0" y="9309100"/>
                    <a:pt x="0" y="9042400"/>
                  </a:cubicBezTo>
                  <a:close/>
                </a:path>
              </a:pathLst>
            </a:custGeom>
            <a:blipFill>
              <a:blip r:embed="rId4"/>
              <a:stretch>
                <a:fillRect l="-44355" t="0" r="-82059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10334739">
            <a:off x="15375277" y="-1406857"/>
            <a:ext cx="5108037" cy="5199111"/>
          </a:xfrm>
          <a:custGeom>
            <a:avLst/>
            <a:gdLst/>
            <a:ahLst/>
            <a:cxnLst/>
            <a:rect r="r" b="b" t="t" l="l"/>
            <a:pathLst>
              <a:path h="5199111" w="5108037">
                <a:moveTo>
                  <a:pt x="0" y="0"/>
                </a:moveTo>
                <a:lnTo>
                  <a:pt x="5108037" y="0"/>
                </a:lnTo>
                <a:lnTo>
                  <a:pt x="5108037" y="5199111"/>
                </a:lnTo>
                <a:lnTo>
                  <a:pt x="0" y="51991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true" rot="10334739">
            <a:off x="-1525319" y="6513411"/>
            <a:ext cx="5108037" cy="5199111"/>
          </a:xfrm>
          <a:custGeom>
            <a:avLst/>
            <a:gdLst/>
            <a:ahLst/>
            <a:cxnLst/>
            <a:rect r="r" b="b" t="t" l="l"/>
            <a:pathLst>
              <a:path h="5199111" w="5108037">
                <a:moveTo>
                  <a:pt x="0" y="5199111"/>
                </a:moveTo>
                <a:lnTo>
                  <a:pt x="5108038" y="5199111"/>
                </a:lnTo>
                <a:lnTo>
                  <a:pt x="5108038" y="0"/>
                </a:lnTo>
                <a:lnTo>
                  <a:pt x="0" y="0"/>
                </a:lnTo>
                <a:lnTo>
                  <a:pt x="0" y="5199111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3420581">
            <a:off x="11804211" y="7367643"/>
            <a:ext cx="5108037" cy="5199111"/>
          </a:xfrm>
          <a:custGeom>
            <a:avLst/>
            <a:gdLst/>
            <a:ahLst/>
            <a:cxnLst/>
            <a:rect r="r" b="b" t="t" l="l"/>
            <a:pathLst>
              <a:path h="5199111" w="5108037">
                <a:moveTo>
                  <a:pt x="0" y="0"/>
                </a:moveTo>
                <a:lnTo>
                  <a:pt x="5108037" y="0"/>
                </a:lnTo>
                <a:lnTo>
                  <a:pt x="5108037" y="5199111"/>
                </a:lnTo>
                <a:lnTo>
                  <a:pt x="0" y="51991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3420581">
            <a:off x="845920" y="-3215959"/>
            <a:ext cx="5108037" cy="5199111"/>
          </a:xfrm>
          <a:custGeom>
            <a:avLst/>
            <a:gdLst/>
            <a:ahLst/>
            <a:cxnLst/>
            <a:rect r="r" b="b" t="t" l="l"/>
            <a:pathLst>
              <a:path h="5199111" w="5108037">
                <a:moveTo>
                  <a:pt x="0" y="0"/>
                </a:moveTo>
                <a:lnTo>
                  <a:pt x="5108037" y="0"/>
                </a:lnTo>
                <a:lnTo>
                  <a:pt x="5108037" y="5199110"/>
                </a:lnTo>
                <a:lnTo>
                  <a:pt x="0" y="51991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6142186" y="6484741"/>
            <a:ext cx="4032974" cy="641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18"/>
              </a:lnSpc>
            </a:pPr>
            <a:r>
              <a:rPr lang="en-US" sz="3227">
                <a:solidFill>
                  <a:srgbClr val="043576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Optimización de CI/CD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2699999">
            <a:off x="-2567721" y="1919650"/>
            <a:ext cx="5813532" cy="6104209"/>
          </a:xfrm>
          <a:custGeom>
            <a:avLst/>
            <a:gdLst/>
            <a:ahLst/>
            <a:cxnLst/>
            <a:rect r="r" b="b" t="t" l="l"/>
            <a:pathLst>
              <a:path h="6104209" w="5813532">
                <a:moveTo>
                  <a:pt x="0" y="6104209"/>
                </a:moveTo>
                <a:lnTo>
                  <a:pt x="5813533" y="6104209"/>
                </a:lnTo>
                <a:lnTo>
                  <a:pt x="5813533" y="0"/>
                </a:lnTo>
                <a:lnTo>
                  <a:pt x="0" y="0"/>
                </a:lnTo>
                <a:lnTo>
                  <a:pt x="0" y="6104209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2699999">
            <a:off x="4706730" y="7354032"/>
            <a:ext cx="5813532" cy="6104209"/>
          </a:xfrm>
          <a:custGeom>
            <a:avLst/>
            <a:gdLst/>
            <a:ahLst/>
            <a:cxnLst/>
            <a:rect r="r" b="b" t="t" l="l"/>
            <a:pathLst>
              <a:path h="6104209" w="5813532">
                <a:moveTo>
                  <a:pt x="0" y="6104208"/>
                </a:moveTo>
                <a:lnTo>
                  <a:pt x="5813533" y="6104208"/>
                </a:lnTo>
                <a:lnTo>
                  <a:pt x="5813533" y="0"/>
                </a:lnTo>
                <a:lnTo>
                  <a:pt x="0" y="0"/>
                </a:lnTo>
                <a:lnTo>
                  <a:pt x="0" y="6104208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2699999">
            <a:off x="8458754" y="-2615830"/>
            <a:ext cx="5813532" cy="6104209"/>
          </a:xfrm>
          <a:custGeom>
            <a:avLst/>
            <a:gdLst/>
            <a:ahLst/>
            <a:cxnLst/>
            <a:rect r="r" b="b" t="t" l="l"/>
            <a:pathLst>
              <a:path h="6104209" w="5813532">
                <a:moveTo>
                  <a:pt x="0" y="6104208"/>
                </a:moveTo>
                <a:lnTo>
                  <a:pt x="5813532" y="6104208"/>
                </a:lnTo>
                <a:lnTo>
                  <a:pt x="5813532" y="0"/>
                </a:lnTo>
                <a:lnTo>
                  <a:pt x="0" y="0"/>
                </a:lnTo>
                <a:lnTo>
                  <a:pt x="0" y="6104208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2699999">
            <a:off x="16354676" y="3586019"/>
            <a:ext cx="5813532" cy="6104209"/>
          </a:xfrm>
          <a:custGeom>
            <a:avLst/>
            <a:gdLst/>
            <a:ahLst/>
            <a:cxnLst/>
            <a:rect r="r" b="b" t="t" l="l"/>
            <a:pathLst>
              <a:path h="6104209" w="5813532">
                <a:moveTo>
                  <a:pt x="0" y="6104209"/>
                </a:moveTo>
                <a:lnTo>
                  <a:pt x="5813532" y="6104209"/>
                </a:lnTo>
                <a:lnTo>
                  <a:pt x="5813532" y="0"/>
                </a:lnTo>
                <a:lnTo>
                  <a:pt x="0" y="0"/>
                </a:lnTo>
                <a:lnTo>
                  <a:pt x="0" y="6104209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216391" y="1101688"/>
            <a:ext cx="15855218" cy="8083624"/>
            <a:chOff x="0" y="0"/>
            <a:chExt cx="4175860" cy="21290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175860" cy="2129020"/>
            </a:xfrm>
            <a:custGeom>
              <a:avLst/>
              <a:gdLst/>
              <a:ahLst/>
              <a:cxnLst/>
              <a:rect r="r" b="b" t="t" l="l"/>
              <a:pathLst>
                <a:path h="2129020" w="4175860">
                  <a:moveTo>
                    <a:pt x="0" y="0"/>
                  </a:moveTo>
                  <a:lnTo>
                    <a:pt x="4175860" y="0"/>
                  </a:lnTo>
                  <a:lnTo>
                    <a:pt x="4175860" y="2129020"/>
                  </a:lnTo>
                  <a:lnTo>
                    <a:pt x="0" y="21290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175860" cy="21671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2702248" y="4898517"/>
            <a:ext cx="12883504" cy="667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58"/>
              </a:lnSpc>
            </a:pPr>
            <a:r>
              <a:rPr lang="en-US" sz="3327">
                <a:solidFill>
                  <a:srgbClr val="043576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Diagnostico de rendimiento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10334739">
            <a:off x="15375277" y="-1406857"/>
            <a:ext cx="5108037" cy="5199111"/>
          </a:xfrm>
          <a:custGeom>
            <a:avLst/>
            <a:gdLst/>
            <a:ahLst/>
            <a:cxnLst/>
            <a:rect r="r" b="b" t="t" l="l"/>
            <a:pathLst>
              <a:path h="5199111" w="5108037">
                <a:moveTo>
                  <a:pt x="0" y="0"/>
                </a:moveTo>
                <a:lnTo>
                  <a:pt x="5108037" y="0"/>
                </a:lnTo>
                <a:lnTo>
                  <a:pt x="5108037" y="5199111"/>
                </a:lnTo>
                <a:lnTo>
                  <a:pt x="0" y="51991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true" rot="10334739">
            <a:off x="-1525319" y="6513411"/>
            <a:ext cx="5108037" cy="5199111"/>
          </a:xfrm>
          <a:custGeom>
            <a:avLst/>
            <a:gdLst/>
            <a:ahLst/>
            <a:cxnLst/>
            <a:rect r="r" b="b" t="t" l="l"/>
            <a:pathLst>
              <a:path h="5199111" w="5108037">
                <a:moveTo>
                  <a:pt x="0" y="5199111"/>
                </a:moveTo>
                <a:lnTo>
                  <a:pt x="5108038" y="5199111"/>
                </a:lnTo>
                <a:lnTo>
                  <a:pt x="5108038" y="0"/>
                </a:lnTo>
                <a:lnTo>
                  <a:pt x="0" y="0"/>
                </a:lnTo>
                <a:lnTo>
                  <a:pt x="0" y="5199111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3420581">
            <a:off x="11804211" y="7367643"/>
            <a:ext cx="5108037" cy="5199111"/>
          </a:xfrm>
          <a:custGeom>
            <a:avLst/>
            <a:gdLst/>
            <a:ahLst/>
            <a:cxnLst/>
            <a:rect r="r" b="b" t="t" l="l"/>
            <a:pathLst>
              <a:path h="5199111" w="5108037">
                <a:moveTo>
                  <a:pt x="0" y="0"/>
                </a:moveTo>
                <a:lnTo>
                  <a:pt x="5108037" y="0"/>
                </a:lnTo>
                <a:lnTo>
                  <a:pt x="5108037" y="5199111"/>
                </a:lnTo>
                <a:lnTo>
                  <a:pt x="0" y="51991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3420581">
            <a:off x="1356093" y="-2819173"/>
            <a:ext cx="5108037" cy="5199111"/>
          </a:xfrm>
          <a:custGeom>
            <a:avLst/>
            <a:gdLst/>
            <a:ahLst/>
            <a:cxnLst/>
            <a:rect r="r" b="b" t="t" l="l"/>
            <a:pathLst>
              <a:path h="5199111" w="5108037">
                <a:moveTo>
                  <a:pt x="0" y="0"/>
                </a:moveTo>
                <a:lnTo>
                  <a:pt x="5108037" y="0"/>
                </a:lnTo>
                <a:lnTo>
                  <a:pt x="5108037" y="5199111"/>
                </a:lnTo>
                <a:lnTo>
                  <a:pt x="0" y="51991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3378918" y="2015616"/>
            <a:ext cx="10456122" cy="2418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60"/>
              </a:lnSpc>
            </a:pPr>
            <a:r>
              <a:rPr lang="en-US" b="true" sz="6400">
                <a:solidFill>
                  <a:srgbClr val="A4CAFB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Rendimiento en código Java y Consultas SQL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695574" y="6033192"/>
            <a:ext cx="12883504" cy="667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58"/>
              </a:lnSpc>
            </a:pPr>
            <a:r>
              <a:rPr lang="en-US" sz="3327">
                <a:solidFill>
                  <a:srgbClr val="043576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Optimización de consultas SQL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4255209">
            <a:off x="11935374" y="-1789621"/>
            <a:ext cx="5328706" cy="5001289"/>
          </a:xfrm>
          <a:custGeom>
            <a:avLst/>
            <a:gdLst/>
            <a:ahLst/>
            <a:cxnLst/>
            <a:rect r="r" b="b" t="t" l="l"/>
            <a:pathLst>
              <a:path h="5001289" w="5328706">
                <a:moveTo>
                  <a:pt x="0" y="0"/>
                </a:moveTo>
                <a:lnTo>
                  <a:pt x="5328706" y="0"/>
                </a:lnTo>
                <a:lnTo>
                  <a:pt x="5328706" y="5001289"/>
                </a:lnTo>
                <a:lnTo>
                  <a:pt x="0" y="50012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4255209">
            <a:off x="6479647" y="6757655"/>
            <a:ext cx="5328706" cy="5001289"/>
          </a:xfrm>
          <a:custGeom>
            <a:avLst/>
            <a:gdLst/>
            <a:ahLst/>
            <a:cxnLst/>
            <a:rect r="r" b="b" t="t" l="l"/>
            <a:pathLst>
              <a:path h="5001289" w="5328706">
                <a:moveTo>
                  <a:pt x="0" y="0"/>
                </a:moveTo>
                <a:lnTo>
                  <a:pt x="5328706" y="0"/>
                </a:lnTo>
                <a:lnTo>
                  <a:pt x="5328706" y="5001290"/>
                </a:lnTo>
                <a:lnTo>
                  <a:pt x="0" y="50012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216391" y="1101688"/>
            <a:ext cx="15855218" cy="8083624"/>
            <a:chOff x="0" y="0"/>
            <a:chExt cx="4175860" cy="21290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175860" cy="2129020"/>
            </a:xfrm>
            <a:custGeom>
              <a:avLst/>
              <a:gdLst/>
              <a:ahLst/>
              <a:cxnLst/>
              <a:rect r="r" b="b" t="t" l="l"/>
              <a:pathLst>
                <a:path h="2129020" w="4175860">
                  <a:moveTo>
                    <a:pt x="0" y="0"/>
                  </a:moveTo>
                  <a:lnTo>
                    <a:pt x="4175860" y="0"/>
                  </a:lnTo>
                  <a:lnTo>
                    <a:pt x="4175860" y="2129020"/>
                  </a:lnTo>
                  <a:lnTo>
                    <a:pt x="0" y="21290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175860" cy="21671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3261830" y="1012390"/>
            <a:ext cx="11764339" cy="2516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21"/>
              </a:lnSpc>
            </a:pPr>
            <a:r>
              <a:rPr lang="en-US" b="true" sz="6657">
                <a:solidFill>
                  <a:srgbClr val="F15C54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Sectores Productivos y Conexión con los ODS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787958" y="3913082"/>
            <a:ext cx="8712084" cy="573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98"/>
              </a:lnSpc>
            </a:pPr>
            <a:r>
              <a:rPr lang="en-US" b="true" sz="2927">
                <a:solidFill>
                  <a:srgbClr val="043576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Clasificación por Sectores y ODS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-465602" y="-2107280"/>
            <a:ext cx="5083846" cy="5636607"/>
          </a:xfrm>
          <a:custGeom>
            <a:avLst/>
            <a:gdLst/>
            <a:ahLst/>
            <a:cxnLst/>
            <a:rect r="r" b="b" t="t" l="l"/>
            <a:pathLst>
              <a:path h="5636607" w="5083846">
                <a:moveTo>
                  <a:pt x="0" y="0"/>
                </a:moveTo>
                <a:lnTo>
                  <a:pt x="5083845" y="0"/>
                </a:lnTo>
                <a:lnTo>
                  <a:pt x="5083845" y="5636607"/>
                </a:lnTo>
                <a:lnTo>
                  <a:pt x="0" y="56366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5456664" y="6866751"/>
            <a:ext cx="5083846" cy="5636607"/>
          </a:xfrm>
          <a:custGeom>
            <a:avLst/>
            <a:gdLst/>
            <a:ahLst/>
            <a:cxnLst/>
            <a:rect r="r" b="b" t="t" l="l"/>
            <a:pathLst>
              <a:path h="5636607" w="5083846">
                <a:moveTo>
                  <a:pt x="0" y="0"/>
                </a:moveTo>
                <a:lnTo>
                  <a:pt x="5083845" y="0"/>
                </a:lnTo>
                <a:lnTo>
                  <a:pt x="5083845" y="5636608"/>
                </a:lnTo>
                <a:lnTo>
                  <a:pt x="0" y="56366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5554300">
            <a:off x="-683483" y="7783578"/>
            <a:ext cx="5083846" cy="5636607"/>
          </a:xfrm>
          <a:custGeom>
            <a:avLst/>
            <a:gdLst/>
            <a:ahLst/>
            <a:cxnLst/>
            <a:rect r="r" b="b" t="t" l="l"/>
            <a:pathLst>
              <a:path h="5636607" w="5083846">
                <a:moveTo>
                  <a:pt x="0" y="0"/>
                </a:moveTo>
                <a:lnTo>
                  <a:pt x="5083845" y="0"/>
                </a:lnTo>
                <a:lnTo>
                  <a:pt x="5083845" y="5636607"/>
                </a:lnTo>
                <a:lnTo>
                  <a:pt x="0" y="56366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9144000" y="7138535"/>
            <a:ext cx="8712084" cy="576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98"/>
              </a:lnSpc>
            </a:pPr>
            <a:r>
              <a:rPr lang="en-US" sz="2927">
                <a:solidFill>
                  <a:srgbClr val="043576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Cuaternario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62202" y="7138535"/>
            <a:ext cx="8712084" cy="576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98"/>
              </a:lnSpc>
            </a:pPr>
            <a:r>
              <a:rPr lang="en-US" sz="2927">
                <a:solidFill>
                  <a:srgbClr val="043576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Secundario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144000" y="4788757"/>
            <a:ext cx="8712084" cy="576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98"/>
              </a:lnSpc>
            </a:pPr>
            <a:r>
              <a:rPr lang="en-US" sz="2927">
                <a:solidFill>
                  <a:srgbClr val="043576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Terciario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62202" y="4951093"/>
            <a:ext cx="8712084" cy="576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98"/>
              </a:lnSpc>
            </a:pPr>
            <a:r>
              <a:rPr lang="en-US" sz="2927">
                <a:solidFill>
                  <a:srgbClr val="043576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Primario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529011" y="0"/>
            <a:ext cx="5316969" cy="5742674"/>
          </a:xfrm>
          <a:custGeom>
            <a:avLst/>
            <a:gdLst/>
            <a:ahLst/>
            <a:cxnLst/>
            <a:rect r="r" b="b" t="t" l="l"/>
            <a:pathLst>
              <a:path h="5742674" w="5316969">
                <a:moveTo>
                  <a:pt x="0" y="0"/>
                </a:moveTo>
                <a:lnTo>
                  <a:pt x="5316969" y="0"/>
                </a:lnTo>
                <a:lnTo>
                  <a:pt x="5316969" y="5742674"/>
                </a:lnTo>
                <a:lnTo>
                  <a:pt x="0" y="57426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3812791">
            <a:off x="7403917" y="6386963"/>
            <a:ext cx="5316969" cy="5742674"/>
          </a:xfrm>
          <a:custGeom>
            <a:avLst/>
            <a:gdLst/>
            <a:ahLst/>
            <a:cxnLst/>
            <a:rect r="r" b="b" t="t" l="l"/>
            <a:pathLst>
              <a:path h="5742674" w="5316969">
                <a:moveTo>
                  <a:pt x="0" y="0"/>
                </a:moveTo>
                <a:lnTo>
                  <a:pt x="5316969" y="0"/>
                </a:lnTo>
                <a:lnTo>
                  <a:pt x="5316969" y="5742674"/>
                </a:lnTo>
                <a:lnTo>
                  <a:pt x="0" y="57426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392011" y="7073958"/>
            <a:ext cx="3734578" cy="4033588"/>
          </a:xfrm>
          <a:custGeom>
            <a:avLst/>
            <a:gdLst/>
            <a:ahLst/>
            <a:cxnLst/>
            <a:rect r="r" b="b" t="t" l="l"/>
            <a:pathLst>
              <a:path h="4033588" w="3734578">
                <a:moveTo>
                  <a:pt x="0" y="0"/>
                </a:moveTo>
                <a:lnTo>
                  <a:pt x="3734578" y="0"/>
                </a:lnTo>
                <a:lnTo>
                  <a:pt x="3734578" y="4033588"/>
                </a:lnTo>
                <a:lnTo>
                  <a:pt x="0" y="40335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216391" y="1101688"/>
            <a:ext cx="15855218" cy="8083624"/>
            <a:chOff x="0" y="0"/>
            <a:chExt cx="4175860" cy="21290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175860" cy="2129020"/>
            </a:xfrm>
            <a:custGeom>
              <a:avLst/>
              <a:gdLst/>
              <a:ahLst/>
              <a:cxnLst/>
              <a:rect r="r" b="b" t="t" l="l"/>
              <a:pathLst>
                <a:path h="2129020" w="4175860">
                  <a:moveTo>
                    <a:pt x="0" y="0"/>
                  </a:moveTo>
                  <a:lnTo>
                    <a:pt x="4175860" y="0"/>
                  </a:lnTo>
                  <a:lnTo>
                    <a:pt x="4175860" y="2129020"/>
                  </a:lnTo>
                  <a:lnTo>
                    <a:pt x="0" y="21290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175860" cy="21671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-4255209">
            <a:off x="13667775" y="-1498280"/>
            <a:ext cx="5328706" cy="5001289"/>
          </a:xfrm>
          <a:custGeom>
            <a:avLst/>
            <a:gdLst/>
            <a:ahLst/>
            <a:cxnLst/>
            <a:rect r="r" b="b" t="t" l="l"/>
            <a:pathLst>
              <a:path h="5001289" w="5328706">
                <a:moveTo>
                  <a:pt x="0" y="0"/>
                </a:moveTo>
                <a:lnTo>
                  <a:pt x="5328706" y="0"/>
                </a:lnTo>
                <a:lnTo>
                  <a:pt x="5328706" y="5001289"/>
                </a:lnTo>
                <a:lnTo>
                  <a:pt x="0" y="50012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4255209">
            <a:off x="-1218528" y="7780073"/>
            <a:ext cx="5328706" cy="5001289"/>
          </a:xfrm>
          <a:custGeom>
            <a:avLst/>
            <a:gdLst/>
            <a:ahLst/>
            <a:cxnLst/>
            <a:rect r="r" b="b" t="t" l="l"/>
            <a:pathLst>
              <a:path h="5001289" w="5328706">
                <a:moveTo>
                  <a:pt x="0" y="0"/>
                </a:moveTo>
                <a:lnTo>
                  <a:pt x="5328706" y="0"/>
                </a:lnTo>
                <a:lnTo>
                  <a:pt x="5328706" y="5001289"/>
                </a:lnTo>
                <a:lnTo>
                  <a:pt x="0" y="50012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129474" y="1920015"/>
            <a:ext cx="11948991" cy="2418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60"/>
              </a:lnSpc>
            </a:pPr>
            <a:r>
              <a:rPr lang="en-US" sz="6400" b="true">
                <a:solidFill>
                  <a:srgbClr val="F15C54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Análisis de Riesgos y Oportunidades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062402" y="4330564"/>
            <a:ext cx="6299130" cy="659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19"/>
              </a:lnSpc>
              <a:spcBef>
                <a:spcPct val="0"/>
              </a:spcBef>
            </a:pPr>
            <a:r>
              <a:rPr lang="en-US" b="true" sz="3299">
                <a:solidFill>
                  <a:srgbClr val="043576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R</a:t>
            </a:r>
            <a:r>
              <a:rPr lang="en-US" b="true" sz="3299">
                <a:solidFill>
                  <a:srgbClr val="043576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iesgos a Evaluar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648913" y="6401963"/>
            <a:ext cx="6299130" cy="659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19"/>
              </a:lnSpc>
              <a:spcBef>
                <a:spcPct val="0"/>
              </a:spcBef>
            </a:pPr>
            <a:r>
              <a:rPr lang="en-US" b="true" sz="3299">
                <a:solidFill>
                  <a:srgbClr val="043576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Oportun</a:t>
            </a:r>
            <a:r>
              <a:rPr lang="en-US" b="true" sz="3299">
                <a:solidFill>
                  <a:srgbClr val="043576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idades de Mejora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4255209">
            <a:off x="11935374" y="-1789621"/>
            <a:ext cx="5328706" cy="5001289"/>
          </a:xfrm>
          <a:custGeom>
            <a:avLst/>
            <a:gdLst/>
            <a:ahLst/>
            <a:cxnLst/>
            <a:rect r="r" b="b" t="t" l="l"/>
            <a:pathLst>
              <a:path h="5001289" w="5328706">
                <a:moveTo>
                  <a:pt x="0" y="0"/>
                </a:moveTo>
                <a:lnTo>
                  <a:pt x="5328706" y="0"/>
                </a:lnTo>
                <a:lnTo>
                  <a:pt x="5328706" y="5001289"/>
                </a:lnTo>
                <a:lnTo>
                  <a:pt x="0" y="50012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4255209">
            <a:off x="6479647" y="6757655"/>
            <a:ext cx="5328706" cy="5001289"/>
          </a:xfrm>
          <a:custGeom>
            <a:avLst/>
            <a:gdLst/>
            <a:ahLst/>
            <a:cxnLst/>
            <a:rect r="r" b="b" t="t" l="l"/>
            <a:pathLst>
              <a:path h="5001289" w="5328706">
                <a:moveTo>
                  <a:pt x="0" y="0"/>
                </a:moveTo>
                <a:lnTo>
                  <a:pt x="5328706" y="0"/>
                </a:lnTo>
                <a:lnTo>
                  <a:pt x="5328706" y="5001290"/>
                </a:lnTo>
                <a:lnTo>
                  <a:pt x="0" y="50012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216391" y="1101688"/>
            <a:ext cx="15855218" cy="8083624"/>
            <a:chOff x="0" y="0"/>
            <a:chExt cx="4175860" cy="21290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175860" cy="2129020"/>
            </a:xfrm>
            <a:custGeom>
              <a:avLst/>
              <a:gdLst/>
              <a:ahLst/>
              <a:cxnLst/>
              <a:rect r="r" b="b" t="t" l="l"/>
              <a:pathLst>
                <a:path h="2129020" w="4175860">
                  <a:moveTo>
                    <a:pt x="0" y="0"/>
                  </a:moveTo>
                  <a:lnTo>
                    <a:pt x="4175860" y="0"/>
                  </a:lnTo>
                  <a:lnTo>
                    <a:pt x="4175860" y="2129020"/>
                  </a:lnTo>
                  <a:lnTo>
                    <a:pt x="0" y="21290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175860" cy="21671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446105" y="1806309"/>
            <a:ext cx="15395789" cy="2025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551"/>
              </a:lnSpc>
            </a:pPr>
            <a:r>
              <a:rPr lang="en-US" b="true" sz="5393">
                <a:solidFill>
                  <a:srgbClr val="F15C54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Responsabilidad Profesional, Personal y Confusiones Frecuentese elementos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-399721" y="-3447483"/>
            <a:ext cx="5083846" cy="5636607"/>
          </a:xfrm>
          <a:custGeom>
            <a:avLst/>
            <a:gdLst/>
            <a:ahLst/>
            <a:cxnLst/>
            <a:rect r="r" b="b" t="t" l="l"/>
            <a:pathLst>
              <a:path h="5636607" w="5083846">
                <a:moveTo>
                  <a:pt x="0" y="0"/>
                </a:moveTo>
                <a:lnTo>
                  <a:pt x="5083846" y="0"/>
                </a:lnTo>
                <a:lnTo>
                  <a:pt x="5083846" y="5636607"/>
                </a:lnTo>
                <a:lnTo>
                  <a:pt x="0" y="56366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157803" y="5772680"/>
            <a:ext cx="5083846" cy="5636607"/>
          </a:xfrm>
          <a:custGeom>
            <a:avLst/>
            <a:gdLst/>
            <a:ahLst/>
            <a:cxnLst/>
            <a:rect r="r" b="b" t="t" l="l"/>
            <a:pathLst>
              <a:path h="5636607" w="5083846">
                <a:moveTo>
                  <a:pt x="0" y="0"/>
                </a:moveTo>
                <a:lnTo>
                  <a:pt x="5083846" y="0"/>
                </a:lnTo>
                <a:lnTo>
                  <a:pt x="5083846" y="5636607"/>
                </a:lnTo>
                <a:lnTo>
                  <a:pt x="0" y="56366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5554300">
            <a:off x="-683483" y="7783578"/>
            <a:ext cx="5083846" cy="5636607"/>
          </a:xfrm>
          <a:custGeom>
            <a:avLst/>
            <a:gdLst/>
            <a:ahLst/>
            <a:cxnLst/>
            <a:rect r="r" b="b" t="t" l="l"/>
            <a:pathLst>
              <a:path h="5636607" w="5083846">
                <a:moveTo>
                  <a:pt x="0" y="0"/>
                </a:moveTo>
                <a:lnTo>
                  <a:pt x="5083845" y="0"/>
                </a:lnTo>
                <a:lnTo>
                  <a:pt x="5083845" y="5636607"/>
                </a:lnTo>
                <a:lnTo>
                  <a:pt x="0" y="56366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858439" y="4450611"/>
            <a:ext cx="9049444" cy="573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98"/>
              </a:lnSpc>
            </a:pPr>
            <a:r>
              <a:rPr lang="en-US" sz="2927" b="true">
                <a:solidFill>
                  <a:srgbClr val="043576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Hábitos Profesionales y Personales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339621" y="4450611"/>
            <a:ext cx="9049444" cy="573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98"/>
              </a:lnSpc>
            </a:pPr>
            <a:r>
              <a:rPr lang="en-US" sz="2927" b="true">
                <a:solidFill>
                  <a:srgbClr val="043576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Aclaración de Confusiones Habituales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787958" y="7362729"/>
            <a:ext cx="9049444" cy="573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98"/>
              </a:lnSpc>
            </a:pPr>
            <a:r>
              <a:rPr lang="en-US" sz="2927" b="true">
                <a:solidFill>
                  <a:srgbClr val="043576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Digitalización no es Sostenibilidad Automática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339621" y="5728796"/>
            <a:ext cx="9049444" cy="573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98"/>
              </a:lnSpc>
            </a:pPr>
            <a:r>
              <a:rPr lang="en-US" sz="2927" b="true">
                <a:solidFill>
                  <a:srgbClr val="043576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Contribución vs. Cumplimiento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858439" y="5728796"/>
            <a:ext cx="9049444" cy="573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98"/>
              </a:lnSpc>
            </a:pPr>
            <a:r>
              <a:rPr lang="en-US" sz="2927" b="true">
                <a:solidFill>
                  <a:srgbClr val="043576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Sector vs. Puesto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16391" y="1101688"/>
            <a:ext cx="15855218" cy="8083624"/>
            <a:chOff x="0" y="0"/>
            <a:chExt cx="4175860" cy="212902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175860" cy="2129020"/>
            </a:xfrm>
            <a:custGeom>
              <a:avLst/>
              <a:gdLst/>
              <a:ahLst/>
              <a:cxnLst/>
              <a:rect r="r" b="b" t="t" l="l"/>
              <a:pathLst>
                <a:path h="2129020" w="4175860">
                  <a:moveTo>
                    <a:pt x="0" y="0"/>
                  </a:moveTo>
                  <a:lnTo>
                    <a:pt x="4175860" y="0"/>
                  </a:lnTo>
                  <a:lnTo>
                    <a:pt x="4175860" y="2129020"/>
                  </a:lnTo>
                  <a:lnTo>
                    <a:pt x="0" y="21290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175860" cy="21671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-1324416" y="-772712"/>
            <a:ext cx="5316969" cy="5742674"/>
          </a:xfrm>
          <a:custGeom>
            <a:avLst/>
            <a:gdLst/>
            <a:ahLst/>
            <a:cxnLst/>
            <a:rect r="r" b="b" t="t" l="l"/>
            <a:pathLst>
              <a:path h="5742674" w="5316969">
                <a:moveTo>
                  <a:pt x="0" y="0"/>
                </a:moveTo>
                <a:lnTo>
                  <a:pt x="5316969" y="0"/>
                </a:lnTo>
                <a:lnTo>
                  <a:pt x="5316969" y="5742674"/>
                </a:lnTo>
                <a:lnTo>
                  <a:pt x="0" y="57426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064234" y="6815314"/>
            <a:ext cx="5083846" cy="5636607"/>
          </a:xfrm>
          <a:custGeom>
            <a:avLst/>
            <a:gdLst/>
            <a:ahLst/>
            <a:cxnLst/>
            <a:rect r="r" b="b" t="t" l="l"/>
            <a:pathLst>
              <a:path h="5636607" w="5083846">
                <a:moveTo>
                  <a:pt x="0" y="0"/>
                </a:moveTo>
                <a:lnTo>
                  <a:pt x="5083846" y="0"/>
                </a:lnTo>
                <a:lnTo>
                  <a:pt x="5083846" y="5636607"/>
                </a:lnTo>
                <a:lnTo>
                  <a:pt x="0" y="56366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2699999">
            <a:off x="-17625" y="6862910"/>
            <a:ext cx="5813532" cy="6104209"/>
          </a:xfrm>
          <a:custGeom>
            <a:avLst/>
            <a:gdLst/>
            <a:ahLst/>
            <a:cxnLst/>
            <a:rect r="r" b="b" t="t" l="l"/>
            <a:pathLst>
              <a:path h="6104209" w="5813532">
                <a:moveTo>
                  <a:pt x="0" y="6104209"/>
                </a:moveTo>
                <a:lnTo>
                  <a:pt x="5813533" y="6104209"/>
                </a:lnTo>
                <a:lnTo>
                  <a:pt x="5813533" y="0"/>
                </a:lnTo>
                <a:lnTo>
                  <a:pt x="0" y="0"/>
                </a:lnTo>
                <a:lnTo>
                  <a:pt x="0" y="6104209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10334739">
            <a:off x="15478511" y="-716566"/>
            <a:ext cx="5108037" cy="5199111"/>
          </a:xfrm>
          <a:custGeom>
            <a:avLst/>
            <a:gdLst/>
            <a:ahLst/>
            <a:cxnLst/>
            <a:rect r="r" b="b" t="t" l="l"/>
            <a:pathLst>
              <a:path h="5199111" w="5108037">
                <a:moveTo>
                  <a:pt x="0" y="0"/>
                </a:moveTo>
                <a:lnTo>
                  <a:pt x="5108037" y="0"/>
                </a:lnTo>
                <a:lnTo>
                  <a:pt x="5108037" y="5199111"/>
                </a:lnTo>
                <a:lnTo>
                  <a:pt x="0" y="519911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9100323">
            <a:off x="10399881" y="-2500645"/>
            <a:ext cx="5328706" cy="5001289"/>
          </a:xfrm>
          <a:custGeom>
            <a:avLst/>
            <a:gdLst/>
            <a:ahLst/>
            <a:cxnLst/>
            <a:rect r="r" b="b" t="t" l="l"/>
            <a:pathLst>
              <a:path h="5001289" w="5328706">
                <a:moveTo>
                  <a:pt x="0" y="0"/>
                </a:moveTo>
                <a:lnTo>
                  <a:pt x="5328706" y="0"/>
                </a:lnTo>
                <a:lnTo>
                  <a:pt x="5328706" y="5001290"/>
                </a:lnTo>
                <a:lnTo>
                  <a:pt x="0" y="500129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912692" y="3496110"/>
            <a:ext cx="10462617" cy="3056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71"/>
              </a:lnSpc>
            </a:pPr>
            <a:r>
              <a:rPr lang="en-US" sz="9457">
                <a:solidFill>
                  <a:srgbClr val="043576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¡Gracias por </a:t>
            </a:r>
          </a:p>
          <a:p>
            <a:pPr algn="ctr">
              <a:lnSpc>
                <a:spcPts val="10971"/>
              </a:lnSpc>
            </a:pPr>
            <a:r>
              <a:rPr lang="en-US" sz="9457">
                <a:solidFill>
                  <a:srgbClr val="043576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su atención!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DAHWwFCoHas</dc:identifier>
  <dcterms:modified xsi:type="dcterms:W3CDTF">2011-08-01T06:04:30Z</dcterms:modified>
  <cp:revision>1</cp:revision>
  <dc:title>sostenibilidad Alberto Y Victor</dc:title>
</cp:coreProperties>
</file>